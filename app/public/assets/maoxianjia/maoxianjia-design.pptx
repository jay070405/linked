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这是我用 Unity 和 AI 做的棋盘游戏 Demo，叫《毛险家》。四只宠物在海边小镇走丢了，要一边掷骰子前进，一边打听主人的线索，再走到主人面前相认。谁先认对，谁就赢。现在可以单机对三个机器人，也支持朋友在同一个网络里联机。接下来我会讲玩法的取舍、制作过程，以及界面和美术怎么定下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局就围绕这条循环展开。先掷骰子，走完之后处理停下的格子，可能拿到线索、道具，也可能遇到事件。有了线索，就会重新判断该走哪条路、去哪个街区。走进寻人格时可以尝试相认。饱食度、道具和小游戏都服务于这个过程，让玩家在找人的途中考虑时间和其他玩家的干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想做这个题材，是因为掷骰棋盘的移动常常缺少目的，排除类推理桌游又不太依赖棋盘的位置。把它们合起来，拿到的信息就会改变路线，所在的位置也会影响相认的机会。即使已经知道主人是谁，还要走到对应的街区。如果刚好遇到一个符合部分线索的人，也可以决定要不要赌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相认不要求集齐线索，也不限次数。只要向前走进寻人格，就能看本街区的四位居民，路过也算。这里真正需要比较的是风险和时间。认错会暂停三个回合、扣三点饱食度，如果因此归零，就住院五个回合。早期代价轻，剩两人时直接猜很划算，后面的线索就用不上了，所以后来加重了代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人从二十位居民里选。帽子、眼镜和背包三种外貌各有一半人符合，前三张线索的顺序随机。这里用一个典型过程说明，候选人数从二十缩到十、五，再到两三位。外貌还不够，后两张线索会先排除两个街区，再指出主人住在哪个街区。居民住处每局随机，走进街区才会显示，不能靠记住上局的位置跳过探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规则核心可以脱离 Unity 运行，由机器人自动打完整局。我先给节奏定六条指标，再拿规则和地图去跑模拟，每批一万局，共三批。表里是交卷文档的结果，两张地图都在目标范围内。除了看一局多快结束，我也关注盲猜会不会太划算、新手有没有机会，以及玩家被迫停着的时间会不会太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星星岛的五个街区对等，容易做平衡，但环路加五条通往中心的小路，看起来总像五角星，路线选择也比较少。后来我重新设计了三套路网，从外形、路线公平和三维场景能否落地来比较，选了方案 C 做河湾岛。不对称之后又用模拟搜索格子和功能建筑的位置，把街区胜率差距控制在五个百分点以内。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局先用目标卡告诉玩家要做什么，第一次玩再展开七页小册子。进入对局后，落点预告帮玩家判断会不会走过头，卡面直接写效果，相认时再显示把握和代价。演出也改成排队进行，先对准角色，再顶骰、移动，最后揭晓格子效果。玩家拿不准时，还能随时打开小册子、名单和地图查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视觉上我把教程和对局界面放进同一套语言里。米白撕纸承载信息，蓝条写标题，珊瑚红留给主按钮，黄色强调重点，再用白边贴纸放动物和小物件。这里把样稿和实机并排看，主要看部件、颜色和信息位置如何统一。游戏里以资源圆体为主，便签用手写体。这份讲解页统一用微软雅黑，方便后面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道具和事件都用一套重新绘制的卡面，名称、插画和说明放在同一张牌上。道具提供调整移动或干扰他人的办法，事件则在路上改变局面。玩家抽到或使用时，可以直接看卡上的说明，规则也以卡面写的为准。这里挑出几张看整体风格，重点是文字能读清楚，拿到牌时就能知道接下来会发生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先做灰盒，把选角、棋盘上的决定和结算连成一局。第一次试玩发现信息太多，而且事情发生得太快。之后先整理常驻信息，再换上纸片和贴纸，接着按我给的样稿重排。最后继续调整轮廓、角度和高低关系，让界面不那么方正。这一行都是对局画面，下面只保留灰盒与当前两张图，放大同一处左上信息区，方便比较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五轮结束，所有人进入一场小游戏，第一名补一点饱食度，最后一名减一点。现在一共有十五种，一局内不会重复，用来调节棋盘对局的节奏。联机支持二到四人局域网直连，空位由机器人补足。朋友已经连上，可以一起玩，但记录没有说这一局打到了结算。当前也不支持中途加入和断线重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我负责确定主题和规则边界，提供界面、卡牌、教程和人物美术，也根据试玩和模拟提出修改。AI 编程代理主要协助代码、场景搭建和模拟。几次方向变化由我来判断，比如线索要停下才能拿，演出要一件一件交代，地图不能只改外形，要重做路网。方案通过数值检查后，还要回到实机里看体验是否讲得通。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河湾岛的街景补过一轮，但密度和概念图还有差距，所以第一次打开仍默认进入星星岛。部分特殊事件的演出也只是简化版本，之后需要补完整。局长现在按十到十五分钟来设计，还不能把这个当成真人实测时长。后续可以继续补河湾岛和特殊事件，并考虑加入更长的地图，让不同长度的对局都有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就是《毛险家》目前的样子。它把找主人的目标放进掷骰棋盘，让线索影响走路的方向，再用相认的风险和饱食度给等待增加成本。制作时我先把规则和模拟做通，再接灰盒、美术与演出，最后根据试玩继续修改。现在这还是一个 Demo，河湾岛的街景和部分事件演出需要继续补，希望用这一版把已经做出的内容讲清楚。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jp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jpg"/><Relationship Id="rId4" Type="http://schemas.openxmlformats.org/officeDocument/2006/relationships/image" Target="../media/image18.jpg"/><Relationship Id="rId5" Type="http://schemas.openxmlformats.org/officeDocument/2006/relationships/image" Target="../media/image41.jpg"/><Relationship Id="rId6" Type="http://schemas.openxmlformats.org/officeDocument/2006/relationships/image" Target="../media/image42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7.png"/><Relationship Id="rId7" Type="http://schemas.openxmlformats.org/officeDocument/2006/relationships/image" Target="../media/image48.jpg"/><Relationship Id="rId8" Type="http://schemas.openxmlformats.org/officeDocument/2006/relationships/image" Target="../media/image49.png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Relationship Id="rId15" Type="http://schemas.openxmlformats.org/officeDocument/2006/relationships/image" Target="../media/image63.png"/><Relationship Id="rId16" Type="http://schemas.openxmlformats.org/officeDocument/2006/relationships/image" Target="../media/image64.jpg"/><Relationship Id="rId17" Type="http://schemas.openxmlformats.org/officeDocument/2006/relationships/image" Target="../media/image10.jpg"/><Relationship Id="rId18" Type="http://schemas.openxmlformats.org/officeDocument/2006/relationships/image" Target="../media/image65.png"/><Relationship Id="rId1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47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Relationship Id="rId12" Type="http://schemas.openxmlformats.org/officeDocument/2006/relationships/image" Target="../media/image75.png"/><Relationship Id="rId13" Type="http://schemas.openxmlformats.org/officeDocument/2006/relationships/image" Target="../media/image76.png"/><Relationship Id="rId14" Type="http://schemas.openxmlformats.org/officeDocument/2006/relationships/image" Target="../media/image77.png"/><Relationship Id="rId15" Type="http://schemas.openxmlformats.org/officeDocument/2006/relationships/image" Target="../media/image78.png"/><Relationship Id="rId1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jpg"/><Relationship Id="rId4" Type="http://schemas.openxmlformats.org/officeDocument/2006/relationships/image" Target="../media/image81.jpg"/><Relationship Id="rId5" Type="http://schemas.openxmlformats.org/officeDocument/2006/relationships/image" Target="../media/image82.jpg"/><Relationship Id="rId6" Type="http://schemas.openxmlformats.org/officeDocument/2006/relationships/image" Target="../media/image83.jpg"/><Relationship Id="rId7" Type="http://schemas.openxmlformats.org/officeDocument/2006/relationships/image" Target="../media/image10.jpg"/><Relationship Id="rId8" Type="http://schemas.openxmlformats.org/officeDocument/2006/relationships/image" Target="../media/image84.jpg"/><Relationship Id="rId9" Type="http://schemas.openxmlformats.org/officeDocument/2006/relationships/image" Target="../media/image85.jpg"/><Relationship Id="rId10" Type="http://schemas.openxmlformats.org/officeDocument/2006/relationships/image" Target="../media/image86.png"/><Relationship Id="rId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88.jpg"/><Relationship Id="rId4" Type="http://schemas.openxmlformats.org/officeDocument/2006/relationships/image" Target="../media/image89.jpg"/><Relationship Id="rId5" Type="http://schemas.openxmlformats.org/officeDocument/2006/relationships/image" Target="../media/image90.jpg"/><Relationship Id="rId6" Type="http://schemas.openxmlformats.org/officeDocument/2006/relationships/image" Target="../media/image91.jpg"/><Relationship Id="rId7" Type="http://schemas.openxmlformats.org/officeDocument/2006/relationships/image" Target="../media/image92.png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94.jpg"/><Relationship Id="rId4" Type="http://schemas.openxmlformats.org/officeDocument/2006/relationships/image" Target="../media/image95.jpg"/><Relationship Id="rId5" Type="http://schemas.openxmlformats.org/officeDocument/2006/relationships/image" Target="../media/image96.jpg"/><Relationship Id="rId6" Type="http://schemas.openxmlformats.org/officeDocument/2006/relationships/image" Target="../media/image97.jpg"/><Relationship Id="rId7" Type="http://schemas.openxmlformats.org/officeDocument/2006/relationships/image" Target="../media/image98.png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image" Target="../media/image3.jp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04.png"/><Relationship Id="rId9" Type="http://schemas.openxmlformats.org/officeDocument/2006/relationships/image" Target="../media/image105.png"/><Relationship Id="rId10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n_01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419100" y="279400"/>
            <a:ext cx="1892300" cy="901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21540000">
            <a:off x="711200" y="514350"/>
            <a:ext cx="1244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毛险家</a:t>
            </a:r>
          </a:p>
        </p:txBody>
      </p:sp>
      <p:pic>
        <p:nvPicPr>
          <p:cNvPr id="4" name="Picture 3" descr="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79" y="1409700"/>
            <a:ext cx="5691041" cy="2235200"/>
          </a:xfrm>
          <a:prstGeom prst="rect">
            <a:avLst/>
          </a:prstGeom>
        </p:spPr>
      </p:pic>
      <p:pic>
        <p:nvPicPr>
          <p:cNvPr id="5" name="Picture 4" descr="island_liv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6604000" y="1543843"/>
            <a:ext cx="4953000" cy="2786062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647700" y="3644900"/>
            <a:ext cx="59055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36"/>
              </a:lnSpc>
              <a:spcAft>
                <a:spcPts val="0"/>
              </a:spcAft>
              <a:defRPr sz="23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四只走丢的宠物，</a:t>
            </a:r>
          </a:p>
          <a:p>
            <a:pPr algn="l">
              <a:lnSpc>
                <a:spcPts val="3036"/>
              </a:lnSpc>
              <a:spcAft>
                <a:spcPts val="0"/>
              </a:spcAft>
              <a:defRPr sz="23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掷骰子、找线索、认主人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64500" y="520700"/>
            <a:ext cx="22225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640"/>
              </a:lnSpc>
              <a:spcAft>
                <a:spcPts val="0"/>
              </a:spcAft>
              <a:defRPr sz="2000" b="0">
                <a:solidFill>
                  <a:srgbClr val="285AC7"/>
                </a:solidFill>
                <a:latin typeface="微软雅黑"/>
              </a:defRPr>
            </a:pPr>
            <a:r>
              <a:rPr>
                <a:ea typeface="微软雅黑"/>
              </a:rPr>
              <a:t>Unity Demo</a:t>
            </a:r>
          </a:p>
        </p:txBody>
      </p:sp>
      <p:pic>
        <p:nvPicPr>
          <p:cNvPr id="8" name="Picture 7" descr="dog_stic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593" y="4495800"/>
            <a:ext cx="1779062" cy="1968500"/>
          </a:xfrm>
          <a:prstGeom prst="rect">
            <a:avLst/>
          </a:prstGeom>
        </p:spPr>
      </p:pic>
      <p:pic>
        <p:nvPicPr>
          <p:cNvPr id="9" name="Picture 8" descr="cat_stic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7407" y="4495800"/>
            <a:ext cx="1795535" cy="1968500"/>
          </a:xfrm>
          <a:prstGeom prst="rect">
            <a:avLst/>
          </a:prstGeom>
        </p:spPr>
      </p:pic>
      <p:pic>
        <p:nvPicPr>
          <p:cNvPr id="10" name="Picture 9" descr="rabbit_stick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608" y="4495800"/>
            <a:ext cx="1407233" cy="1968500"/>
          </a:xfrm>
          <a:prstGeom prst="rect">
            <a:avLst/>
          </a:prstGeom>
        </p:spPr>
      </p:pic>
      <p:pic>
        <p:nvPicPr>
          <p:cNvPr id="11" name="Picture 10" descr="parrot_stick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9167" y="4495800"/>
            <a:ext cx="1624215" cy="1968500"/>
          </a:xfrm>
          <a:prstGeom prst="rect">
            <a:avLst/>
          </a:prstGeom>
        </p:spPr>
      </p:pic>
      <p:pic>
        <p:nvPicPr>
          <p:cNvPr id="12" name="Picture 11" descr="torn_01_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300000">
            <a:off x="10731500" y="539750"/>
            <a:ext cx="920750" cy="387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303000" y="6496050"/>
            <a:ext cx="412750" cy="234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n_02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419100" y="279400"/>
            <a:ext cx="4940300" cy="901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60000">
            <a:off x="711200" y="514350"/>
            <a:ext cx="4292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掷骰、找线索，再去相认</a:t>
            </a:r>
          </a:p>
        </p:txBody>
      </p:sp>
      <p:pic>
        <p:nvPicPr>
          <p:cNvPr id="4" name="Picture 3" descr="hu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40000">
            <a:off x="539750" y="1499393"/>
            <a:ext cx="8001000" cy="4500562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558800" y="62039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单机对三个规则机器人</a:t>
            </a:r>
          </a:p>
        </p:txBody>
      </p:sp>
      <p:pic>
        <p:nvPicPr>
          <p:cNvPr id="6" name="Picture 5" descr="torn_02_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">
            <a:off x="8826500" y="1447800"/>
            <a:ext cx="2857500" cy="742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80500" y="1663700"/>
            <a:ext cx="2349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72"/>
              </a:lnSpc>
              <a:spcAft>
                <a:spcPts val="0"/>
              </a:spcAft>
              <a:defRPr sz="21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掷骰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37750" y="2178050"/>
            <a:ext cx="508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  <a:defRPr sz="15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↓</a:t>
            </a:r>
          </a:p>
        </p:txBody>
      </p:sp>
      <p:pic>
        <p:nvPicPr>
          <p:cNvPr id="9" name="Picture 8" descr="torn_02_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540000">
            <a:off x="8826500" y="2374900"/>
            <a:ext cx="2857500" cy="742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80500" y="2590800"/>
            <a:ext cx="2349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72"/>
              </a:lnSpc>
              <a:spcAft>
                <a:spcPts val="0"/>
              </a:spcAft>
              <a:defRPr sz="21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停格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37750" y="3105150"/>
            <a:ext cx="508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  <a:defRPr sz="15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↓</a:t>
            </a:r>
          </a:p>
        </p:txBody>
      </p:sp>
      <p:pic>
        <p:nvPicPr>
          <p:cNvPr id="12" name="Picture 11" descr="torn_02_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8826500" y="3302000"/>
            <a:ext cx="2857500" cy="742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80500" y="3517900"/>
            <a:ext cx="2349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72"/>
              </a:lnSpc>
              <a:spcAft>
                <a:spcPts val="0"/>
              </a:spcAft>
              <a:defRPr sz="21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获得线索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7750" y="4032250"/>
            <a:ext cx="508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  <a:defRPr sz="15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↓</a:t>
            </a:r>
          </a:p>
        </p:txBody>
      </p:sp>
      <p:pic>
        <p:nvPicPr>
          <p:cNvPr id="15" name="Picture 14" descr="torn_02_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540000">
            <a:off x="8826500" y="4229100"/>
            <a:ext cx="2857500" cy="7429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80500" y="4445000"/>
            <a:ext cx="2349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72"/>
              </a:lnSpc>
              <a:spcAft>
                <a:spcPts val="0"/>
              </a:spcAft>
              <a:defRPr sz="21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决定往哪走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37750" y="4959350"/>
            <a:ext cx="508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  <a:defRPr sz="15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↓</a:t>
            </a:r>
          </a:p>
        </p:txBody>
      </p:sp>
      <p:pic>
        <p:nvPicPr>
          <p:cNvPr id="18" name="Picture 17" descr="torn_02_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8826500" y="5156200"/>
            <a:ext cx="2857500" cy="742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80500" y="5372100"/>
            <a:ext cx="2349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72"/>
              </a:lnSpc>
              <a:spcAft>
                <a:spcPts val="0"/>
              </a:spcAft>
              <a:defRPr sz="21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相认</a:t>
            </a:r>
          </a:p>
        </p:txBody>
      </p:sp>
      <p:pic>
        <p:nvPicPr>
          <p:cNvPr id="20" name="Picture 19" descr="torn_02_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300000">
            <a:off x="10731500" y="539750"/>
            <a:ext cx="920750" cy="3873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303000" y="6496050"/>
            <a:ext cx="412750" cy="234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n_0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419100" y="279400"/>
            <a:ext cx="4559300" cy="901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21540000">
            <a:off x="711200" y="514350"/>
            <a:ext cx="3911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把移动和推理放在一起</a:t>
            </a:r>
          </a:p>
        </p:txBody>
      </p:sp>
      <p:pic>
        <p:nvPicPr>
          <p:cNvPr id="4" name="Picture 3" descr="fi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10000">
            <a:off x="539750" y="1518443"/>
            <a:ext cx="8001000" cy="4500562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558800" y="6235700"/>
            <a:ext cx="793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星星岛</a:t>
            </a:r>
          </a:p>
        </p:txBody>
      </p:sp>
      <p:pic>
        <p:nvPicPr>
          <p:cNvPr id="6" name="Picture 5" descr="torn_03_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">
            <a:off x="8763000" y="1574800"/>
            <a:ext cx="2984500" cy="1174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17000" y="1841500"/>
            <a:ext cx="24765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72"/>
              </a:lnSpc>
              <a:spcAft>
                <a:spcPts val="0"/>
              </a:spcAft>
              <a:defRPr sz="21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掷骰棋盘</a:t>
            </a:r>
          </a:p>
          <a:p>
            <a:pPr algn="l">
              <a:lnSpc>
                <a:spcPts val="2772"/>
              </a:lnSpc>
              <a:spcAft>
                <a:spcPts val="0"/>
              </a:spcAft>
              <a:defRPr sz="21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缺少移动目的</a:t>
            </a:r>
          </a:p>
        </p:txBody>
      </p:sp>
      <p:pic>
        <p:nvPicPr>
          <p:cNvPr id="8" name="Picture 7" descr="torn_03_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540000">
            <a:off x="8763000" y="2882900"/>
            <a:ext cx="2984500" cy="1174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17000" y="3149600"/>
            <a:ext cx="24765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72"/>
              </a:lnSpc>
              <a:spcAft>
                <a:spcPts val="0"/>
              </a:spcAft>
              <a:defRPr sz="21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推理桌游</a:t>
            </a:r>
          </a:p>
          <a:p>
            <a:pPr algn="l">
              <a:lnSpc>
                <a:spcPts val="2772"/>
              </a:lnSpc>
              <a:spcAft>
                <a:spcPts val="0"/>
              </a:spcAft>
              <a:defRPr sz="21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很少依赖位置</a:t>
            </a:r>
          </a:p>
        </p:txBody>
      </p:sp>
      <p:pic>
        <p:nvPicPr>
          <p:cNvPr id="10" name="Picture 9" descr="torn_03_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8763000" y="4514850"/>
            <a:ext cx="2984500" cy="1320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17000" y="4813300"/>
            <a:ext cx="24765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285AC7"/>
                </a:solidFill>
                <a:latin typeface="微软雅黑"/>
              </a:defRPr>
            </a:pPr>
            <a:r>
              <a:rPr>
                <a:ea typeface="微软雅黑"/>
              </a:rPr>
              <a:t>线索决定往哪走</a:t>
            </a:r>
          </a:p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285AC7"/>
                </a:solidFill>
                <a:latin typeface="微软雅黑"/>
              </a:defRPr>
            </a:pPr>
            <a:r>
              <a:rPr>
                <a:ea typeface="微软雅黑"/>
              </a:rPr>
              <a:t>位置决定何时相认</a:t>
            </a:r>
          </a:p>
        </p:txBody>
      </p:sp>
      <p:pic>
        <p:nvPicPr>
          <p:cNvPr id="12" name="Picture 11" descr="torn_03_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300000">
            <a:off x="10731500" y="539750"/>
            <a:ext cx="920750" cy="387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303000" y="6496050"/>
            <a:ext cx="412750" cy="234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n_04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419100" y="279400"/>
            <a:ext cx="5321300" cy="901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60000">
            <a:off x="711200" y="514350"/>
            <a:ext cx="4673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继续找线索，还是现在去认</a:t>
            </a:r>
          </a:p>
        </p:txBody>
      </p:sp>
      <p:pic>
        <p:nvPicPr>
          <p:cNvPr id="4" name="Picture 3" descr="gu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">
            <a:off x="539750" y="1518443"/>
            <a:ext cx="8001000" cy="4500562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558800" y="623570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相认时显示候选居民、把握和认错后果</a:t>
            </a:r>
          </a:p>
        </p:txBody>
      </p:sp>
      <p:pic>
        <p:nvPicPr>
          <p:cNvPr id="6" name="Picture 5" descr="torn_04_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540000">
            <a:off x="8763000" y="1581150"/>
            <a:ext cx="2984500" cy="946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17000" y="1898650"/>
            <a:ext cx="24765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72"/>
              </a:lnSpc>
              <a:spcAft>
                <a:spcPts val="0"/>
              </a:spcAft>
              <a:defRPr sz="21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继续收集线索</a:t>
            </a:r>
          </a:p>
        </p:txBody>
      </p:sp>
      <p:pic>
        <p:nvPicPr>
          <p:cNvPr id="8" name="Picture 7" descr="torn_04_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000">
            <a:off x="8763000" y="2743200"/>
            <a:ext cx="2984500" cy="946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17000" y="3060700"/>
            <a:ext cx="24765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72"/>
              </a:lnSpc>
              <a:spcAft>
                <a:spcPts val="0"/>
              </a:spcAft>
              <a:defRPr sz="21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现在去相认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8900" y="4349750"/>
            <a:ext cx="26035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72"/>
              </a:lnSpc>
              <a:spcAft>
                <a:spcPts val="0"/>
              </a:spcAft>
              <a:defRPr sz="2100" b="1">
                <a:solidFill>
                  <a:srgbClr val="C0433A"/>
                </a:solidFill>
                <a:latin typeface="微软雅黑"/>
              </a:defRPr>
            </a:pPr>
            <a:r>
              <a:rPr>
                <a:ea typeface="微软雅黑"/>
              </a:rPr>
              <a:t>认错停三回合</a:t>
            </a:r>
          </a:p>
          <a:p>
            <a:pPr algn="l">
              <a:lnSpc>
                <a:spcPts val="2772"/>
              </a:lnSpc>
              <a:spcAft>
                <a:spcPts val="0"/>
              </a:spcAft>
              <a:defRPr sz="2100" b="1">
                <a:solidFill>
                  <a:srgbClr val="C0433A"/>
                </a:solidFill>
                <a:latin typeface="微软雅黑"/>
              </a:defRPr>
            </a:pPr>
            <a:r>
              <a:rPr>
                <a:ea typeface="微软雅黑"/>
              </a:rPr>
              <a:t>扣三点饱食度</a:t>
            </a:r>
          </a:p>
          <a:p>
            <a:pPr algn="l">
              <a:lnSpc>
                <a:spcPts val="2772"/>
              </a:lnSpc>
              <a:spcAft>
                <a:spcPts val="0"/>
              </a:spcAft>
              <a:defRPr sz="2100" b="1">
                <a:solidFill>
                  <a:srgbClr val="C0433A"/>
                </a:solidFill>
                <a:latin typeface="微软雅黑"/>
              </a:defRPr>
            </a:pPr>
            <a:r>
              <a:rPr>
                <a:ea typeface="微软雅黑"/>
              </a:rPr>
              <a:t>归零住院五回合</a:t>
            </a:r>
          </a:p>
        </p:txBody>
      </p:sp>
      <p:pic>
        <p:nvPicPr>
          <p:cNvPr id="11" name="Picture 10" descr="torn_04_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00000">
            <a:off x="10731500" y="539750"/>
            <a:ext cx="920750" cy="387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03000" y="6496050"/>
            <a:ext cx="412750" cy="234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n_05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419100" y="279400"/>
            <a:ext cx="4559300" cy="901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21540000">
            <a:off x="711200" y="514350"/>
            <a:ext cx="3911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线索逐步缩小候选范围</a:t>
            </a:r>
          </a:p>
        </p:txBody>
      </p:sp>
      <p:pic>
        <p:nvPicPr>
          <p:cNvPr id="4" name="Picture 3" descr="resident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" y="1460500"/>
            <a:ext cx="8001000" cy="482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250" y="638810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二十位居民的正式头像</a:t>
            </a:r>
          </a:p>
        </p:txBody>
      </p:sp>
      <p:pic>
        <p:nvPicPr>
          <p:cNvPr id="6" name="Picture 5" descr="torn_05_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">
            <a:off x="8826500" y="1466850"/>
            <a:ext cx="2838450" cy="723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78900" y="1625600"/>
            <a:ext cx="1003300" cy="488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96"/>
              </a:lnSpc>
              <a:spcAft>
                <a:spcPts val="0"/>
              </a:spcAft>
              <a:defRPr sz="2800" b="1">
                <a:solidFill>
                  <a:srgbClr val="285AC7"/>
                </a:solidFill>
                <a:latin typeface="微软雅黑"/>
              </a:defRPr>
            </a:pPr>
            <a:r>
              <a:rPr>
                <a:ea typeface="微软雅黑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0" y="1708150"/>
            <a:ext cx="1397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无线索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71000" y="2178050"/>
            <a:ext cx="4445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  <a:defRPr sz="15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↓</a:t>
            </a:r>
          </a:p>
        </p:txBody>
      </p:sp>
      <p:pic>
        <p:nvPicPr>
          <p:cNvPr id="10" name="Picture 9" descr="torn_05_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540000">
            <a:off x="8826500" y="2381250"/>
            <a:ext cx="2838450" cy="723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78900" y="2540000"/>
            <a:ext cx="1003300" cy="488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96"/>
              </a:lnSpc>
              <a:spcAft>
                <a:spcPts val="0"/>
              </a:spcAft>
              <a:defRPr sz="2800" b="1">
                <a:solidFill>
                  <a:srgbClr val="285AC7"/>
                </a:solidFill>
                <a:latin typeface="微软雅黑"/>
              </a:defRPr>
            </a:pPr>
            <a:r>
              <a:rPr>
                <a:ea typeface="微软雅黑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0" y="2622550"/>
            <a:ext cx="1397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帽子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1000" y="3092450"/>
            <a:ext cx="4445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  <a:defRPr sz="15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↓</a:t>
            </a:r>
          </a:p>
        </p:txBody>
      </p:sp>
      <p:pic>
        <p:nvPicPr>
          <p:cNvPr id="14" name="Picture 13" descr="torn_05_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8826500" y="3295650"/>
            <a:ext cx="2838450" cy="723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78900" y="3454400"/>
            <a:ext cx="1003300" cy="488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96"/>
              </a:lnSpc>
              <a:spcAft>
                <a:spcPts val="0"/>
              </a:spcAft>
              <a:defRPr sz="2800" b="1">
                <a:solidFill>
                  <a:srgbClr val="285AC7"/>
                </a:solidFill>
                <a:latin typeface="微软雅黑"/>
              </a:defRPr>
            </a:pPr>
            <a:r>
              <a:rPr>
                <a:ea typeface="微软雅黑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0" y="3536950"/>
            <a:ext cx="1397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眼镜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1000" y="4006850"/>
            <a:ext cx="4445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  <a:defRPr sz="15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↓</a:t>
            </a:r>
          </a:p>
        </p:txBody>
      </p:sp>
      <p:pic>
        <p:nvPicPr>
          <p:cNvPr id="18" name="Picture 17" descr="torn_05_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540000">
            <a:off x="8826500" y="4210050"/>
            <a:ext cx="2838450" cy="723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78900" y="4368800"/>
            <a:ext cx="1003300" cy="488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96"/>
              </a:lnSpc>
              <a:spcAft>
                <a:spcPts val="0"/>
              </a:spcAft>
              <a:defRPr sz="2800" b="1">
                <a:solidFill>
                  <a:srgbClr val="285AC7"/>
                </a:solidFill>
                <a:latin typeface="微软雅黑"/>
              </a:defRPr>
            </a:pPr>
            <a:r>
              <a:rPr>
                <a:ea typeface="微软雅黑"/>
              </a:rPr>
              <a:t>2–3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4451350"/>
            <a:ext cx="1397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背包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1000" y="4921250"/>
            <a:ext cx="4445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  <a:defRPr sz="15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↓</a:t>
            </a:r>
          </a:p>
        </p:txBody>
      </p:sp>
      <p:pic>
        <p:nvPicPr>
          <p:cNvPr id="22" name="Picture 21" descr="torn_05_2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8826500" y="5124450"/>
            <a:ext cx="2838450" cy="971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78900" y="5283200"/>
            <a:ext cx="1003300" cy="488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96"/>
              </a:lnSpc>
              <a:spcAft>
                <a:spcPts val="0"/>
              </a:spcAft>
              <a:defRPr sz="2800" b="1">
                <a:solidFill>
                  <a:srgbClr val="285AC7"/>
                </a:solidFill>
                <a:latin typeface="微软雅黑"/>
              </a:defRPr>
            </a:pPr>
            <a:r>
              <a:rPr>
                <a:ea typeface="微软雅黑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6500" y="5276850"/>
            <a:ext cx="1397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两条街区</a:t>
            </a:r>
          </a:p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线索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153150"/>
            <a:ext cx="2762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典型示意，结合街区线索</a:t>
            </a:r>
          </a:p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确定主人</a:t>
            </a:r>
          </a:p>
        </p:txBody>
      </p:sp>
      <p:pic>
        <p:nvPicPr>
          <p:cNvPr id="26" name="Picture 25" descr="torn_05_2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300000">
            <a:off x="10731500" y="539750"/>
            <a:ext cx="920750" cy="3873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303000" y="6496050"/>
            <a:ext cx="412750" cy="234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n_06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419100" y="279400"/>
            <a:ext cx="4940300" cy="901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60000">
            <a:off x="711200" y="514350"/>
            <a:ext cx="4292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用模拟检查六条节奏指标</a:t>
            </a:r>
          </a:p>
        </p:txBody>
      </p:sp>
      <p:pic>
        <p:nvPicPr>
          <p:cNvPr id="4" name="Picture 3" descr="torn_06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40000">
            <a:off x="444500" y="1371600"/>
            <a:ext cx="4445000" cy="596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1200" y="1549400"/>
            <a:ext cx="387349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72"/>
              </a:lnSpc>
              <a:spcAft>
                <a:spcPts val="0"/>
              </a:spcAft>
              <a:defRPr sz="21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每批一万局，共三批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9750" y="1974850"/>
          <a:ext cx="11112499" cy="417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1750"/>
                <a:gridCol w="2555875"/>
                <a:gridCol w="1722437"/>
                <a:gridCol w="1722437"/>
              </a:tblGrid>
              <a:tr h="59690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指标</a:t>
                      </a:r>
                    </a:p>
                  </a:txBody>
                  <a:tcPr marL="114300" marT="88900" marB="0">
                    <a:solidFill>
                      <a:srgbClr val="285A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目标</a:t>
                      </a:r>
                    </a:p>
                  </a:txBody>
                  <a:tcPr marL="114300" marT="88900" marB="0">
                    <a:solidFill>
                      <a:srgbClr val="285A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星星岛</a:t>
                      </a:r>
                    </a:p>
                  </a:txBody>
                  <a:tcPr marL="114300" marT="88900" marB="0">
                    <a:solidFill>
                      <a:srgbClr val="285A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河湾岛</a:t>
                      </a:r>
                    </a:p>
                  </a:txBody>
                  <a:tcPr marL="114300" marT="88900" marB="0">
                    <a:solidFill>
                      <a:srgbClr val="285AC7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获胜轮数的中位数</a:t>
                      </a:r>
                    </a:p>
                  </a:txBody>
                  <a:tcPr marL="114300" marT="88900" marB="0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17 到 20 轮</a:t>
                      </a:r>
                    </a:p>
                  </a:txBody>
                  <a:tcPr marL="114300" marT="88900" marB="0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20</a:t>
                      </a:r>
                    </a:p>
                  </a:txBody>
                  <a:tcPr marL="114300" marT="88900" marB="0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18</a:t>
                      </a:r>
                    </a:p>
                  </a:txBody>
                  <a:tcPr marL="114300" marT="88900" marB="0">
                    <a:solidFill>
                      <a:srgbClr val="FDFAF4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最快的一成对局</a:t>
                      </a:r>
                    </a:p>
                  </a:txBody>
                  <a:tcPr marL="114300" marT="88900" marB="0">
                    <a:solidFill>
                      <a:srgbClr val="ED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不少于 11 轮</a:t>
                      </a:r>
                    </a:p>
                  </a:txBody>
                  <a:tcPr marL="114300" marT="88900" marB="0">
                    <a:solidFill>
                      <a:srgbClr val="ED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14</a:t>
                      </a:r>
                    </a:p>
                  </a:txBody>
                  <a:tcPr marL="114300" marT="88900" marB="0">
                    <a:solidFill>
                      <a:srgbClr val="ED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13</a:t>
                      </a:r>
                    </a:p>
                  </a:txBody>
                  <a:tcPr marL="114300" marT="88900" marB="0">
                    <a:solidFill>
                      <a:srgbClr val="EDE4D6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“见面就猜”的胜率</a:t>
                      </a:r>
                    </a:p>
                  </a:txBody>
                  <a:tcPr marL="114300" marT="88900" marB="0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不超过 25%</a:t>
                      </a:r>
                    </a:p>
                  </a:txBody>
                  <a:tcPr marL="114300" marT="88900" marB="0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19.5%</a:t>
                      </a:r>
                    </a:p>
                  </a:txBody>
                  <a:tcPr marL="114300" marT="88900" marB="0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24.6%</a:t>
                      </a:r>
                    </a:p>
                  </a:txBody>
                  <a:tcPr marL="114300" marT="88900" marB="0">
                    <a:solidFill>
                      <a:srgbClr val="FDFAF4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新手策略的胜率</a:t>
                      </a:r>
                    </a:p>
                  </a:txBody>
                  <a:tcPr marL="114300" marT="88900" marB="0">
                    <a:solidFill>
                      <a:srgbClr val="ED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25% 到 35%</a:t>
                      </a:r>
                    </a:p>
                  </a:txBody>
                  <a:tcPr marL="114300" marT="88900" marB="0">
                    <a:solidFill>
                      <a:srgbClr val="ED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26.2%</a:t>
                      </a:r>
                    </a:p>
                  </a:txBody>
                  <a:tcPr marL="114300" marT="88900" marB="0">
                    <a:solidFill>
                      <a:srgbClr val="ED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25.6%</a:t>
                      </a:r>
                    </a:p>
                  </a:txBody>
                  <a:tcPr marL="114300" marT="88900" marB="0">
                    <a:solidFill>
                      <a:srgbClr val="EDE4D6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每人每局无法行动的回合</a:t>
                      </a:r>
                    </a:p>
                  </a:txBody>
                  <a:tcPr marL="114300" marT="88900" marB="0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不超过 2.5</a:t>
                      </a:r>
                    </a:p>
                  </a:txBody>
                  <a:tcPr marL="114300" marT="88900" marB="0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1.46</a:t>
                      </a:r>
                    </a:p>
                  </a:txBody>
                  <a:tcPr marL="114300" marT="88900" marB="0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1.17</a:t>
                      </a:r>
                    </a:p>
                  </a:txBody>
                  <a:tcPr marL="114300" marT="88900" marB="0">
                    <a:solidFill>
                      <a:srgbClr val="FDFAF4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至少一人翻到最后一张线索的对局</a:t>
                      </a:r>
                    </a:p>
                  </a:txBody>
                  <a:tcPr marL="114300" marT="88900" marB="0">
                    <a:solidFill>
                      <a:srgbClr val="ED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不少于 60%</a:t>
                      </a:r>
                    </a:p>
                  </a:txBody>
                  <a:tcPr marL="114300" marT="88900" marB="0">
                    <a:solidFill>
                      <a:srgbClr val="ED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82.8%</a:t>
                      </a:r>
                    </a:p>
                  </a:txBody>
                  <a:tcPr marL="114300" marT="88900" marB="0">
                    <a:solidFill>
                      <a:srgbClr val="ED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7316B"/>
                          </a:solidFill>
                          <a:latin typeface="微软雅黑"/>
                        </a:defRPr>
                      </a:pPr>
                      <a:r>
                        <a:rPr>
                          <a:ea typeface="微软雅黑"/>
                        </a:rPr>
                        <a:t>86.1%</a:t>
                      </a:r>
                    </a:p>
                  </a:txBody>
                  <a:tcPr marL="114300" marT="88900" marB="0">
                    <a:solidFill>
                      <a:srgbClr val="EDE4D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1500" y="6375400"/>
            <a:ext cx="1016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规则机器人自动对局的结果</a:t>
            </a:r>
          </a:p>
        </p:txBody>
      </p:sp>
      <p:pic>
        <p:nvPicPr>
          <p:cNvPr id="8" name="Picture 7" descr="torn_06_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00000">
            <a:off x="10731500" y="539750"/>
            <a:ext cx="920750" cy="387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03000" y="6496050"/>
            <a:ext cx="412750" cy="234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n_07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419100" y="279400"/>
            <a:ext cx="4559300" cy="901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21540000">
            <a:off x="711200" y="514350"/>
            <a:ext cx="3911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重新设计河湾岛的路网</a:t>
            </a:r>
          </a:p>
        </p:txBody>
      </p:sp>
      <p:pic>
        <p:nvPicPr>
          <p:cNvPr id="4" name="Picture 3" descr="fig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40000">
            <a:off x="533400" y="1519713"/>
            <a:ext cx="4953000" cy="1399222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571500" y="3073400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三套路网方案，选用方案 C</a:t>
            </a:r>
          </a:p>
        </p:txBody>
      </p:sp>
      <p:pic>
        <p:nvPicPr>
          <p:cNvPr id="6" name="Picture 5" descr="fig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8000">
            <a:off x="539750" y="3486943"/>
            <a:ext cx="4953000" cy="2786062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71500" y="6407150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星星岛的五角星结构</a:t>
            </a:r>
          </a:p>
        </p:txBody>
      </p:sp>
      <p:pic>
        <p:nvPicPr>
          <p:cNvPr id="8" name="Picture 7" descr="fig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528000">
            <a:off x="5803900" y="2161778"/>
            <a:ext cx="5905500" cy="3321843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007100" y="6407150"/>
            <a:ext cx="558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河湾岛让小路成为捷径</a:t>
            </a:r>
          </a:p>
        </p:txBody>
      </p:sp>
      <p:pic>
        <p:nvPicPr>
          <p:cNvPr id="10" name="Picture 9" descr="torn_07_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300000">
            <a:off x="10731500" y="539750"/>
            <a:ext cx="920750" cy="387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03000" y="6496050"/>
            <a:ext cx="412750" cy="234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n_08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419100" y="279400"/>
            <a:ext cx="4940300" cy="901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60000">
            <a:off x="711200" y="514350"/>
            <a:ext cx="4292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把规则放在需要它的位置</a:t>
            </a:r>
          </a:p>
        </p:txBody>
      </p:sp>
      <p:pic>
        <p:nvPicPr>
          <p:cNvPr id="4" name="Picture 3" descr="go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40000">
            <a:off x="651933" y="1441449"/>
            <a:ext cx="5147733" cy="2895600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pic>
        <p:nvPicPr>
          <p:cNvPr id="5" name="Picture 4" descr="guid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">
            <a:off x="6379633" y="1441449"/>
            <a:ext cx="5147733" cy="2895600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673100" y="4457700"/>
            <a:ext cx="514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目标卡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7150" y="4457700"/>
            <a:ext cx="514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七页小册子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4749800"/>
            <a:ext cx="3302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落点预告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5000" y="4749800"/>
            <a:ext cx="3302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卡面说明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0" y="4749800"/>
            <a:ext cx="3302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演出依次交代</a:t>
            </a:r>
          </a:p>
        </p:txBody>
      </p:sp>
      <p:pic>
        <p:nvPicPr>
          <p:cNvPr id="11" name="Picture 10" descr="landing_detai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540000">
            <a:off x="1431640" y="5137150"/>
            <a:ext cx="1708718" cy="1492250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pic>
        <p:nvPicPr>
          <p:cNvPr id="12" name="Picture 11" descr="U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9100" y="5137150"/>
            <a:ext cx="1193800" cy="1492250"/>
          </a:xfrm>
          <a:prstGeom prst="rect">
            <a:avLst/>
          </a:prstGeom>
        </p:spPr>
      </p:pic>
      <p:pic>
        <p:nvPicPr>
          <p:cNvPr id="13" name="Picture 12" descr="dice_detai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60000">
            <a:off x="9258130" y="5137150"/>
            <a:ext cx="1295739" cy="1492250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pic>
        <p:nvPicPr>
          <p:cNvPr id="14" name="Picture 13" descr="torn_08_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300000">
            <a:off x="10731500" y="539750"/>
            <a:ext cx="920750" cy="387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303000" y="6496050"/>
            <a:ext cx="412750" cy="234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n_09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419100" y="279400"/>
            <a:ext cx="4940300" cy="901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21540000">
            <a:off x="711200" y="514350"/>
            <a:ext cx="4292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界面沿用同一套纸与贴纸</a:t>
            </a:r>
          </a:p>
        </p:txBody>
      </p:sp>
      <p:pic>
        <p:nvPicPr>
          <p:cNvPr id="4" name="Picture 3" descr="torn_09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">
            <a:off x="482600" y="1308100"/>
            <a:ext cx="1778000" cy="8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7850" y="2197100"/>
            <a:ext cx="17272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米白纸 #F8F1E6</a:t>
            </a:r>
          </a:p>
        </p:txBody>
      </p:sp>
      <p:pic>
        <p:nvPicPr>
          <p:cNvPr id="6" name="Picture 5" descr="torn_09_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540000">
            <a:off x="2349500" y="1308100"/>
            <a:ext cx="1778000" cy="838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44750" y="2197100"/>
            <a:ext cx="17272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墨蓝 #17316B</a:t>
            </a:r>
          </a:p>
        </p:txBody>
      </p:sp>
      <p:pic>
        <p:nvPicPr>
          <p:cNvPr id="8" name="Picture 7" descr="torn_09_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000">
            <a:off x="4216400" y="1308100"/>
            <a:ext cx="1778000" cy="838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11650" y="2197100"/>
            <a:ext cx="17272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主蓝 #285AC7</a:t>
            </a:r>
          </a:p>
        </p:txBody>
      </p:sp>
      <p:pic>
        <p:nvPicPr>
          <p:cNvPr id="10" name="Picture 9" descr="torn_09_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540000">
            <a:off x="6083300" y="1308100"/>
            <a:ext cx="1778000" cy="838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8550" y="2197100"/>
            <a:ext cx="17272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珊瑚红 #E8655A</a:t>
            </a:r>
          </a:p>
        </p:txBody>
      </p:sp>
      <p:pic>
        <p:nvPicPr>
          <p:cNvPr id="12" name="Picture 11" descr="torn_09_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60000">
            <a:off x="7950200" y="1308100"/>
            <a:ext cx="1778000" cy="838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5450" y="2197100"/>
            <a:ext cx="17272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主黄 #FADB69</a:t>
            </a:r>
          </a:p>
        </p:txBody>
      </p:sp>
      <p:pic>
        <p:nvPicPr>
          <p:cNvPr id="14" name="Picture 13" descr="torn_09_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540000">
            <a:off x="9817100" y="1308100"/>
            <a:ext cx="1778000" cy="838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12350" y="2197100"/>
            <a:ext cx="17272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贴纸白 #FDFAF4</a:t>
            </a:r>
          </a:p>
        </p:txBody>
      </p:sp>
      <p:pic>
        <p:nvPicPr>
          <p:cNvPr id="16" name="Picture 15" descr="torn_09_1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540000">
            <a:off x="495299" y="2603500"/>
            <a:ext cx="1905000" cy="666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55700" y="3314700"/>
            <a:ext cx="127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撕边纸</a:t>
            </a:r>
          </a:p>
        </p:txBody>
      </p:sp>
      <p:pic>
        <p:nvPicPr>
          <p:cNvPr id="18" name="Picture 17" descr="torn_09_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60000">
            <a:off x="2476500" y="2647950"/>
            <a:ext cx="2095499" cy="6413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46400" y="2838450"/>
            <a:ext cx="1174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毛险家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5000" y="3314700"/>
            <a:ext cx="1365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蓝标题</a:t>
            </a:r>
          </a:p>
        </p:txBody>
      </p:sp>
      <p:pic>
        <p:nvPicPr>
          <p:cNvPr id="21" name="Picture 20" descr="red_butt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540000">
            <a:off x="4857750" y="2766219"/>
            <a:ext cx="1968500" cy="487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73700" y="2844800"/>
            <a:ext cx="1016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相认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3850" y="3314700"/>
            <a:ext cx="1397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红按钮</a:t>
            </a:r>
          </a:p>
        </p:txBody>
      </p:sp>
      <p:pic>
        <p:nvPicPr>
          <p:cNvPr id="24" name="Picture 23" descr="torn_09_2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300000">
            <a:off x="7118350" y="2749550"/>
            <a:ext cx="184150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83500" y="3314700"/>
            <a:ext cx="1365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黄胶带</a:t>
            </a:r>
          </a:p>
        </p:txBody>
      </p:sp>
      <p:pic>
        <p:nvPicPr>
          <p:cNvPr id="26" name="Picture 25" descr="food_dog_stick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480000">
            <a:off x="9274219" y="2540000"/>
            <a:ext cx="882561" cy="793750"/>
          </a:xfrm>
          <a:prstGeom prst="rect">
            <a:avLst/>
          </a:prstGeom>
        </p:spPr>
      </p:pic>
      <p:pic>
        <p:nvPicPr>
          <p:cNvPr id="27" name="Picture 26" descr="food_rabbit_stick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20000">
            <a:off x="10258425" y="2540000"/>
            <a:ext cx="793750" cy="793750"/>
          </a:xfrm>
          <a:prstGeom prst="rect">
            <a:avLst/>
          </a:prstGeom>
        </p:spPr>
      </p:pic>
      <p:pic>
        <p:nvPicPr>
          <p:cNvPr id="28" name="Picture 27" descr="food_parrot_sticke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540000">
            <a:off x="11049000" y="2617326"/>
            <a:ext cx="635000" cy="6390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766300" y="3314700"/>
            <a:ext cx="184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白边贴纸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8800" y="3683000"/>
            <a:ext cx="5397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12"/>
              </a:lnSpc>
              <a:spcAft>
                <a:spcPts val="0"/>
              </a:spcAft>
              <a:defRPr sz="16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我画的样稿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750" y="3683000"/>
            <a:ext cx="5397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12"/>
              </a:lnSpc>
              <a:spcAft>
                <a:spcPts val="0"/>
              </a:spcAft>
              <a:defRPr sz="16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游戏里</a:t>
            </a:r>
          </a:p>
        </p:txBody>
      </p:sp>
      <p:pic>
        <p:nvPicPr>
          <p:cNvPr id="32" name="Picture 31" descr="hud_target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540000">
            <a:off x="1099023" y="4108450"/>
            <a:ext cx="4253552" cy="2374900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pic>
        <p:nvPicPr>
          <p:cNvPr id="33" name="Picture 32" descr="hud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60000">
            <a:off x="6842477" y="4108450"/>
            <a:ext cx="4222044" cy="2374900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pic>
        <p:nvPicPr>
          <p:cNvPr id="34" name="Picture 33" descr="torn_09_3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300000">
            <a:off x="10731500" y="539750"/>
            <a:ext cx="920750" cy="3873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303000" y="6496050"/>
            <a:ext cx="412750" cy="234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n_10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419100" y="279400"/>
            <a:ext cx="4940300" cy="901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60000">
            <a:off x="711200" y="514350"/>
            <a:ext cx="4292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卡面直接说明道具与事件</a:t>
            </a:r>
          </a:p>
        </p:txBody>
      </p:sp>
      <p:pic>
        <p:nvPicPr>
          <p:cNvPr id="4" name="Picture 3" descr="U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40000">
            <a:off x="539750" y="1509712"/>
            <a:ext cx="1663700" cy="2079624"/>
          </a:xfrm>
          <a:prstGeom prst="rect">
            <a:avLst/>
          </a:prstGeom>
        </p:spPr>
      </p:pic>
      <p:pic>
        <p:nvPicPr>
          <p:cNvPr id="5" name="Picture 4" descr="U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">
            <a:off x="2406650" y="1509712"/>
            <a:ext cx="1663700" cy="2079624"/>
          </a:xfrm>
          <a:prstGeom prst="rect">
            <a:avLst/>
          </a:prstGeom>
        </p:spPr>
      </p:pic>
      <p:pic>
        <p:nvPicPr>
          <p:cNvPr id="6" name="Picture 5" descr="U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540000">
            <a:off x="4273550" y="1509712"/>
            <a:ext cx="1663700" cy="2079624"/>
          </a:xfrm>
          <a:prstGeom prst="rect">
            <a:avLst/>
          </a:prstGeom>
        </p:spPr>
      </p:pic>
      <p:pic>
        <p:nvPicPr>
          <p:cNvPr id="7" name="Picture 6" descr="U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6140450" y="1509712"/>
            <a:ext cx="1663700" cy="2079624"/>
          </a:xfrm>
          <a:prstGeom prst="rect">
            <a:avLst/>
          </a:prstGeom>
        </p:spPr>
      </p:pic>
      <p:pic>
        <p:nvPicPr>
          <p:cNvPr id="8" name="Picture 7" descr="U0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540000">
            <a:off x="8007350" y="1509712"/>
            <a:ext cx="1663700" cy="2079624"/>
          </a:xfrm>
          <a:prstGeom prst="rect">
            <a:avLst/>
          </a:prstGeom>
        </p:spPr>
      </p:pic>
      <p:pic>
        <p:nvPicPr>
          <p:cNvPr id="9" name="Picture 8" descr="S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9874250" y="1509712"/>
            <a:ext cx="1663700" cy="2079624"/>
          </a:xfrm>
          <a:prstGeom prst="rect">
            <a:avLst/>
          </a:prstGeom>
        </p:spPr>
      </p:pic>
      <p:pic>
        <p:nvPicPr>
          <p:cNvPr id="10" name="Picture 9" descr="E0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540000">
            <a:off x="539750" y="4005262"/>
            <a:ext cx="1663700" cy="2079624"/>
          </a:xfrm>
          <a:prstGeom prst="rect">
            <a:avLst/>
          </a:prstGeom>
        </p:spPr>
      </p:pic>
      <p:pic>
        <p:nvPicPr>
          <p:cNvPr id="11" name="Picture 10" descr="E0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60000">
            <a:off x="2406650" y="4005262"/>
            <a:ext cx="1663700" cy="2079624"/>
          </a:xfrm>
          <a:prstGeom prst="rect">
            <a:avLst/>
          </a:prstGeom>
        </p:spPr>
      </p:pic>
      <p:pic>
        <p:nvPicPr>
          <p:cNvPr id="12" name="Picture 11" descr="E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540000">
            <a:off x="4273550" y="4005262"/>
            <a:ext cx="1663700" cy="2079624"/>
          </a:xfrm>
          <a:prstGeom prst="rect">
            <a:avLst/>
          </a:prstGeom>
        </p:spPr>
      </p:pic>
      <p:pic>
        <p:nvPicPr>
          <p:cNvPr id="13" name="Picture 12" descr="E1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60000">
            <a:off x="6140450" y="4005262"/>
            <a:ext cx="1663700" cy="2079624"/>
          </a:xfrm>
          <a:prstGeom prst="rect">
            <a:avLst/>
          </a:prstGeom>
        </p:spPr>
      </p:pic>
      <p:pic>
        <p:nvPicPr>
          <p:cNvPr id="14" name="Picture 13" descr="E2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540000">
            <a:off x="8007350" y="4005262"/>
            <a:ext cx="1663700" cy="2079624"/>
          </a:xfrm>
          <a:prstGeom prst="rect">
            <a:avLst/>
          </a:prstGeom>
        </p:spPr>
      </p:pic>
      <p:pic>
        <p:nvPicPr>
          <p:cNvPr id="15" name="Picture 14" descr="E3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60000">
            <a:off x="9874250" y="4005262"/>
            <a:ext cx="1663700" cy="20796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6394450"/>
            <a:ext cx="1079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上排为道具牌，下排为事件牌</a:t>
            </a:r>
          </a:p>
        </p:txBody>
      </p:sp>
      <p:pic>
        <p:nvPicPr>
          <p:cNvPr id="17" name="Picture 16" descr="torn_10_1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300000">
            <a:off x="10731500" y="539750"/>
            <a:ext cx="920750" cy="387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303000" y="6496050"/>
            <a:ext cx="412750" cy="234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n_11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419100" y="279400"/>
            <a:ext cx="4940300" cy="901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21540000">
            <a:off x="711200" y="514350"/>
            <a:ext cx="4292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同一个对局画面逐步修改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22400"/>
            <a:ext cx="2178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灰盒</a:t>
            </a:r>
          </a:p>
        </p:txBody>
      </p:sp>
      <p:pic>
        <p:nvPicPr>
          <p:cNvPr id="5" name="Picture 4" descr="gr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40000">
            <a:off x="508000" y="1962348"/>
            <a:ext cx="2178050" cy="1225153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2743200" y="1422400"/>
            <a:ext cx="2178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v0.3</a:t>
            </a:r>
          </a:p>
        </p:txBody>
      </p:sp>
      <p:pic>
        <p:nvPicPr>
          <p:cNvPr id="7" name="Picture 6" descr="v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">
            <a:off x="2743200" y="1962348"/>
            <a:ext cx="2178050" cy="1225153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4978400" y="1422400"/>
            <a:ext cx="2178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换皮</a:t>
            </a:r>
          </a:p>
        </p:txBody>
      </p:sp>
      <p:pic>
        <p:nvPicPr>
          <p:cNvPr id="9" name="Picture 8" descr="sk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540000">
            <a:off x="4978400" y="1962348"/>
            <a:ext cx="2178050" cy="1225153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7213600" y="1422400"/>
            <a:ext cx="2178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照样稿重排</a:t>
            </a:r>
          </a:p>
        </p:txBody>
      </p:sp>
      <p:pic>
        <p:nvPicPr>
          <p:cNvPr id="11" name="Picture 10" descr="reflo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7213600" y="1962348"/>
            <a:ext cx="2178050" cy="1225153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9448800" y="1422400"/>
            <a:ext cx="2178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不那么方正</a:t>
            </a:r>
          </a:p>
        </p:txBody>
      </p:sp>
      <p:pic>
        <p:nvPicPr>
          <p:cNvPr id="13" name="Picture 12" descr="hu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540000">
            <a:off x="9448800" y="1962348"/>
            <a:ext cx="2178050" cy="1225153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539750" y="3498850"/>
            <a:ext cx="5397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  <a:defRPr sz="15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同一处左上信息区：灰盒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000" y="3498850"/>
            <a:ext cx="5397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  <a:defRPr sz="15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同一处左上信息区：当前</a:t>
            </a:r>
          </a:p>
        </p:txBody>
      </p:sp>
      <p:pic>
        <p:nvPicPr>
          <p:cNvPr id="16" name="Picture 15" descr="gray_compar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540000">
            <a:off x="533400" y="4020221"/>
            <a:ext cx="5397500" cy="2335456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pic>
        <p:nvPicPr>
          <p:cNvPr id="17" name="Picture 16" descr="hud_compar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60000">
            <a:off x="6235700" y="4020221"/>
            <a:ext cx="5397500" cy="2335456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pic>
        <p:nvPicPr>
          <p:cNvPr id="18" name="Picture 17" descr="torn_11_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300000">
            <a:off x="10731500" y="539750"/>
            <a:ext cx="920750" cy="3873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303000" y="6496050"/>
            <a:ext cx="412750" cy="234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n_12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419100" y="279400"/>
            <a:ext cx="5702300" cy="901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60000">
            <a:off x="711200" y="514350"/>
            <a:ext cx="5054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小游戏调节节奏，也支持联机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485900"/>
            <a:ext cx="555625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04"/>
              </a:lnSpc>
              <a:spcAft>
                <a:spcPts val="0"/>
              </a:spcAft>
              <a:defRPr sz="22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十五种小游戏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3800" y="1485900"/>
            <a:ext cx="53975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04"/>
              </a:lnSpc>
              <a:spcAft>
                <a:spcPts val="0"/>
              </a:spcAft>
              <a:defRPr sz="22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2 到 4 人局域网联机</a:t>
            </a:r>
          </a:p>
        </p:txBody>
      </p:sp>
      <p:pic>
        <p:nvPicPr>
          <p:cNvPr id="6" name="Picture 5" descr="memo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28000">
            <a:off x="522816" y="2133600"/>
            <a:ext cx="5520266" cy="3105150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pic>
        <p:nvPicPr>
          <p:cNvPr id="7" name="Picture 6" descr="lobb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2000">
            <a:off x="6193366" y="2133600"/>
            <a:ext cx="5520266" cy="3105150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pic>
        <p:nvPicPr>
          <p:cNvPr id="8" name="Picture 7" descr="rop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540000">
            <a:off x="745419" y="5492750"/>
            <a:ext cx="1919111" cy="1079500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pic>
        <p:nvPicPr>
          <p:cNvPr id="9" name="Picture 8" descr="balloo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3387019" y="5492750"/>
            <a:ext cx="1919111" cy="1079500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6350000" y="5664200"/>
            <a:ext cx="5175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0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空位由机器人补足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6273800"/>
            <a:ext cx="517525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跳大绳、吹气球为早期版本</a:t>
            </a:r>
          </a:p>
        </p:txBody>
      </p:sp>
      <p:pic>
        <p:nvPicPr>
          <p:cNvPr id="12" name="Picture 11" descr="torn_12_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00000">
            <a:off x="10731500" y="539750"/>
            <a:ext cx="920750" cy="387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303000" y="6496050"/>
            <a:ext cx="412750" cy="234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n_1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419100" y="279400"/>
            <a:ext cx="5086350" cy="901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21540000">
            <a:off x="711200" y="514350"/>
            <a:ext cx="44386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我决定方向，AI 协助实现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1517650"/>
            <a:ext cx="3397250" cy="768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我定主题、规则边界与美术</a:t>
            </a:r>
          </a:p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根据试玩和模拟提修改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2750" y="1517650"/>
            <a:ext cx="7397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AI 做代码、场景搭建与模拟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70150"/>
            <a:ext cx="349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路网改方向时重新比较方案</a:t>
            </a:r>
          </a:p>
        </p:txBody>
      </p:sp>
      <p:pic>
        <p:nvPicPr>
          <p:cNvPr id="7" name="Picture 6" descr="item_targ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">
            <a:off x="4223193" y="2178050"/>
            <a:ext cx="7428613" cy="4159249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4254500" y="6457950"/>
            <a:ext cx="698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我提供的界面样稿，AI 按方向实现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5892800"/>
            <a:ext cx="339725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线索改为停下获得；</a:t>
            </a:r>
          </a:p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演出改为依次交代；</a:t>
            </a:r>
          </a:p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地图重新设计路网</a:t>
            </a:r>
          </a:p>
        </p:txBody>
      </p:sp>
      <p:pic>
        <p:nvPicPr>
          <p:cNvPr id="10" name="Picture 9" descr="scheme_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">
            <a:off x="552450" y="2906161"/>
            <a:ext cx="1397000" cy="1001227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863600" y="4064000"/>
            <a:ext cx="1016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方案 A</a:t>
            </a:r>
          </a:p>
        </p:txBody>
      </p:sp>
      <p:pic>
        <p:nvPicPr>
          <p:cNvPr id="12" name="Picture 11" descr="scheme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540000">
            <a:off x="2286000" y="2907098"/>
            <a:ext cx="1397000" cy="999352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2597150" y="4064000"/>
            <a:ext cx="1016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方案 B</a:t>
            </a:r>
          </a:p>
        </p:txBody>
      </p:sp>
      <p:pic>
        <p:nvPicPr>
          <p:cNvPr id="14" name="Picture 13" descr="scheme_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1428750" y="4353961"/>
            <a:ext cx="1397000" cy="1001227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1739900" y="5511800"/>
            <a:ext cx="1016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方案 C</a:t>
            </a:r>
          </a:p>
        </p:txBody>
      </p:sp>
      <p:pic>
        <p:nvPicPr>
          <p:cNvPr id="16" name="Picture 15" descr="torn_13_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300000">
            <a:off x="10731500" y="539750"/>
            <a:ext cx="920750" cy="387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303000" y="6496050"/>
            <a:ext cx="412750" cy="234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n_14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419100" y="279400"/>
            <a:ext cx="4940300" cy="901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60000">
            <a:off x="711200" y="514350"/>
            <a:ext cx="4292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还没完成的部分与下一步</a:t>
            </a:r>
          </a:p>
        </p:txBody>
      </p:sp>
      <p:pic>
        <p:nvPicPr>
          <p:cNvPr id="4" name="Picture 3" descr="island_liv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10000">
            <a:off x="539750" y="1518443"/>
            <a:ext cx="8001000" cy="4500562"/>
          </a:xfrm>
          <a:prstGeom prst="rect">
            <a:avLst/>
          </a:prstGeom>
          <a:ln w="25400">
            <a:solidFill>
              <a:srgbClr val="FDFAF4"/>
            </a:solidFill>
          </a:ln>
          <a:effectLst>
            <a:outerShdw blurRad="76200" dist="38100" dir="5400000" algn="ctr" rotWithShape="0">
              <a:srgbClr val="17316B">
                <a:alpha val="14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571500" y="6254750"/>
            <a:ext cx="793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河湾岛当前实机</a:t>
            </a:r>
          </a:p>
        </p:txBody>
      </p:sp>
      <p:pic>
        <p:nvPicPr>
          <p:cNvPr id="6" name="Picture 5" descr="torn_14_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">
            <a:off x="8763000" y="1568450"/>
            <a:ext cx="2984500" cy="17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17000" y="1930400"/>
            <a:ext cx="24765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河湾岛继续补街景</a:t>
            </a:r>
          </a:p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特殊事件补完整演出</a:t>
            </a:r>
          </a:p>
          <a:p>
            <a:pPr algn="l">
              <a:lnSpc>
                <a:spcPts val="2640"/>
              </a:lnSpc>
              <a:spcAft>
                <a:spcPts val="0"/>
              </a:spcAft>
              <a:defRPr sz="2000" b="1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考虑加入更长的地图</a:t>
            </a:r>
          </a:p>
        </p:txBody>
      </p:sp>
      <p:pic>
        <p:nvPicPr>
          <p:cNvPr id="8" name="Picture 7" descr="torn_14_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540000">
            <a:off x="8763000" y="4565650"/>
            <a:ext cx="2984500" cy="1301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17000" y="4883150"/>
            <a:ext cx="2476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000" b="0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一局按 10 到 15</a:t>
            </a:r>
          </a:p>
          <a:p>
            <a:pPr algn="l">
              <a:lnSpc>
                <a:spcPts val="2640"/>
              </a:lnSpc>
              <a:spcAft>
                <a:spcPts val="0"/>
              </a:spcAft>
              <a:defRPr sz="2000" b="0">
                <a:solidFill>
                  <a:srgbClr val="17316B"/>
                </a:solidFill>
                <a:latin typeface="微软雅黑"/>
              </a:defRPr>
            </a:pPr>
            <a:r>
              <a:rPr>
                <a:ea typeface="微软雅黑"/>
              </a:rPr>
              <a:t>分钟设计</a:t>
            </a:r>
          </a:p>
        </p:txBody>
      </p:sp>
      <p:pic>
        <p:nvPicPr>
          <p:cNvPr id="10" name="Picture 9" descr="torn_14_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00000">
            <a:off x="10731500" y="539750"/>
            <a:ext cx="920750" cy="387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03000" y="6496050"/>
            <a:ext cx="412750" cy="234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n_15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419100" y="279400"/>
            <a:ext cx="1511300" cy="901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21540000">
            <a:off x="711200" y="514350"/>
            <a:ext cx="863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谢谢</a:t>
            </a:r>
          </a:p>
        </p:txBody>
      </p:sp>
      <p:pic>
        <p:nvPicPr>
          <p:cNvPr id="4" name="Picture 3" descr="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163" y="1289050"/>
            <a:ext cx="5173673" cy="2032000"/>
          </a:xfrm>
          <a:prstGeom prst="rect">
            <a:avLst/>
          </a:prstGeom>
        </p:spPr>
      </p:pic>
      <p:pic>
        <p:nvPicPr>
          <p:cNvPr id="5" name="Picture 4" descr="dog_stic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" y="3262430"/>
            <a:ext cx="2413000" cy="2669939"/>
          </a:xfrm>
          <a:prstGeom prst="rect">
            <a:avLst/>
          </a:prstGeom>
        </p:spPr>
      </p:pic>
      <p:pic>
        <p:nvPicPr>
          <p:cNvPr id="6" name="Picture 5" descr="cat_stic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1850" y="3274677"/>
            <a:ext cx="2413000" cy="2645444"/>
          </a:xfrm>
          <a:prstGeom prst="rect">
            <a:avLst/>
          </a:prstGeom>
        </p:spPr>
      </p:pic>
      <p:pic>
        <p:nvPicPr>
          <p:cNvPr id="7" name="Picture 6" descr="rabbit_stic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465" y="3232150"/>
            <a:ext cx="1951969" cy="2730500"/>
          </a:xfrm>
          <a:prstGeom prst="rect">
            <a:avLst/>
          </a:prstGeom>
        </p:spPr>
      </p:pic>
      <p:pic>
        <p:nvPicPr>
          <p:cNvPr id="8" name="Picture 7" descr="parrot_stick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6078" y="3232150"/>
            <a:ext cx="2252943" cy="2730500"/>
          </a:xfrm>
          <a:prstGeom prst="rect">
            <a:avLst/>
          </a:prstGeom>
        </p:spPr>
      </p:pic>
      <p:pic>
        <p:nvPicPr>
          <p:cNvPr id="9" name="Picture 8" descr="torn_15_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540000">
            <a:off x="3041650" y="5994400"/>
            <a:ext cx="6146800" cy="730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65500" y="6178550"/>
            <a:ext cx="5461000" cy="469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68"/>
              </a:lnSpc>
              <a:spcAft>
                <a:spcPts val="0"/>
              </a:spcAft>
              <a:defRPr sz="2400" b="1">
                <a:solidFill>
                  <a:srgbClr val="285AC7"/>
                </a:solidFill>
                <a:latin typeface="微软雅黑"/>
              </a:defRPr>
            </a:pPr>
            <a:r>
              <a:rPr>
                <a:ea typeface="微软雅黑"/>
              </a:rPr>
              <a:t>“喜欢哪个就用哪个”</a:t>
            </a:r>
          </a:p>
        </p:txBody>
      </p:sp>
      <p:pic>
        <p:nvPicPr>
          <p:cNvPr id="11" name="Picture 10" descr="torn_15_0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300000">
            <a:off x="10731500" y="539750"/>
            <a:ext cx="920750" cy="387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03000" y="6496050"/>
            <a:ext cx="412750" cy="234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48"/>
              </a:lnSpc>
              <a:spcAft>
                <a:spcPts val="0"/>
              </a:spcAft>
              <a:defRPr sz="1400" b="0">
                <a:solidFill>
                  <a:srgbClr val="6B655F"/>
                </a:solidFill>
                <a:latin typeface="微软雅黑"/>
              </a:defRPr>
            </a:pPr>
            <a:r>
              <a:rPr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毛险家讲解</dc:title>
  <dc:subject>玩法、制作过程与视觉设计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